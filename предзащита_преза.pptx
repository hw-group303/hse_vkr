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325">
          <p15:clr>
            <a:srgbClr val="A4A3A4"/>
          </p15:clr>
        </p15:guide>
        <p15:guide id="2" pos="1209">
          <p15:clr>
            <a:srgbClr val="A4A3A4"/>
          </p15:clr>
        </p15:guide>
        <p15:guide id="3" pos="2955">
          <p15:clr>
            <a:srgbClr val="A4A3A4"/>
          </p15:clr>
        </p15:guide>
        <p15:guide id="4" pos="2071">
          <p15:clr>
            <a:srgbClr val="A4A3A4"/>
          </p15:clr>
        </p15:guide>
        <p15:guide id="5" pos="3840">
          <p15:clr>
            <a:srgbClr val="A4A3A4"/>
          </p15:clr>
        </p15:guide>
        <p15:guide id="6" pos="4702">
          <p15:clr>
            <a:srgbClr val="A4A3A4"/>
          </p15:clr>
        </p15:guide>
        <p15:guide id="7" pos="5586">
          <p15:clr>
            <a:srgbClr val="A4A3A4"/>
          </p15:clr>
        </p15:guide>
        <p15:guide id="8" pos="7333">
          <p15:clr>
            <a:srgbClr val="A4A3A4"/>
          </p15:clr>
        </p15:guide>
        <p15:guide id="9" orient="horz" pos="3952">
          <p15:clr>
            <a:srgbClr val="A4A3A4"/>
          </p15:clr>
        </p15:guide>
        <p15:guide id="10" pos="6471">
          <p15:clr>
            <a:srgbClr val="A4A3A4"/>
          </p15:clr>
        </p15:guide>
        <p15:guide id="11" orient="horz" pos="913">
          <p15:clr>
            <a:srgbClr val="A4A3A4"/>
          </p15:clr>
        </p15:guide>
      </p15:sldGuideLst>
    </p:ext>
    <p:ext uri="{2D200454-40CA-4A62-9FC3-DE9A4176ACB9}">
      <p15:notesGuideLst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r:id="rId17" roundtripDataSignature="AMtx7miXltD6qD1ZyYIXcixrnK7Wa7igc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25"/>
        <p:guide pos="1209"/>
        <p:guide pos="2955"/>
        <p:guide pos="2071"/>
        <p:guide pos="3840"/>
        <p:guide pos="4702"/>
        <p:guide pos="5586"/>
        <p:guide pos="7333"/>
        <p:guide pos="3952" orient="horz"/>
        <p:guide pos="6471"/>
        <p:guide pos="913" orient="horz"/>
      </p:guideLst>
    </p:cSldViewPr>
  </p:slide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notes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customschemas.google.com/relationships/presentationmetadata" Target="meta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b3c049816_0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g3db3c049816_0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ddea04373e_0_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g3ddea04373e_0_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dea04373e_0_2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g3ddea04373e_0_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db3c049816_0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g3db3c049816_0_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db3c049816_0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g3db3c049816_0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ddea04373e_0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g3ddea04373e_0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бложка">
  <p:cSld name="Обложка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circle with white text&#10;&#10;Description automatically generated with low confidence" id="16" name="Google Shape;1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3859" y="962173"/>
            <a:ext cx="886499" cy="8864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" name="Google Shape;17;p18"/>
          <p:cNvCxnSpPr/>
          <p:nvPr/>
        </p:nvCxnSpPr>
        <p:spPr>
          <a:xfrm>
            <a:off x="6090212" y="985336"/>
            <a:ext cx="0" cy="840173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8" name="Google Shape;18;p18"/>
          <p:cNvCxnSpPr/>
          <p:nvPr/>
        </p:nvCxnSpPr>
        <p:spPr>
          <a:xfrm>
            <a:off x="8642581" y="985336"/>
            <a:ext cx="0" cy="840173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9" name="Google Shape;19;p18"/>
          <p:cNvCxnSpPr/>
          <p:nvPr/>
        </p:nvCxnSpPr>
        <p:spPr>
          <a:xfrm>
            <a:off x="11179047" y="985336"/>
            <a:ext cx="0" cy="840173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0" name="Google Shape;20;p18"/>
          <p:cNvSpPr txBox="1"/>
          <p:nvPr>
            <p:ph type="title"/>
          </p:nvPr>
        </p:nvSpPr>
        <p:spPr>
          <a:xfrm>
            <a:off x="1027967" y="2404670"/>
            <a:ext cx="7634059" cy="19783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4300"/>
              <a:buFont typeface="Arial"/>
              <a:buNone/>
              <a:defRPr b="0" i="0" sz="4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8"/>
          <p:cNvSpPr txBox="1"/>
          <p:nvPr>
            <p:ph idx="1" type="body"/>
          </p:nvPr>
        </p:nvSpPr>
        <p:spPr>
          <a:xfrm>
            <a:off x="2074947" y="1187841"/>
            <a:ext cx="3848717" cy="4351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" name="Google Shape;22;p18"/>
          <p:cNvSpPr txBox="1"/>
          <p:nvPr>
            <p:ph idx="2" type="body"/>
          </p:nvPr>
        </p:nvSpPr>
        <p:spPr>
          <a:xfrm>
            <a:off x="6259420" y="1173829"/>
            <a:ext cx="2278063" cy="4631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200"/>
              <a:buFont typeface="Arial"/>
              <a:buNone/>
              <a:defRPr b="0" i="0" sz="12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3" type="body"/>
          </p:nvPr>
        </p:nvSpPr>
        <p:spPr>
          <a:xfrm>
            <a:off x="8786720" y="1173829"/>
            <a:ext cx="2217738" cy="4631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200"/>
              <a:buFont typeface="Arial"/>
              <a:buNone/>
              <a:defRPr b="0" i="0" sz="12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4" type="body"/>
          </p:nvPr>
        </p:nvSpPr>
        <p:spPr>
          <a:xfrm>
            <a:off x="1027967" y="4824914"/>
            <a:ext cx="7625267" cy="652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600"/>
              <a:buFont typeface="Arial"/>
              <a:buNone/>
              <a:defRPr b="0" i="0" sz="16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_1">
  <p:cSld name="Текст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n&#10;&#10;Description automatically generated" id="26" name="Google Shape;2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" name="Google Shape;27;p19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8" name="Google Shape;28;p19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9" name="Google Shape;29;p19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30" name="Google Shape;30;p19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2000" u="none" cap="none" strike="noStrike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" name="Google Shape;31;p19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32" name="Google Shape;32;p19"/>
          <p:cNvSpPr/>
          <p:nvPr>
            <p:ph idx="2" type="pic"/>
          </p:nvPr>
        </p:nvSpPr>
        <p:spPr>
          <a:xfrm>
            <a:off x="6684653" y="1447790"/>
            <a:ext cx="4325167" cy="4325107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33" name="Google Shape;33;p19"/>
          <p:cNvSpPr txBox="1"/>
          <p:nvPr>
            <p:ph type="title"/>
          </p:nvPr>
        </p:nvSpPr>
        <p:spPr>
          <a:xfrm>
            <a:off x="585898" y="1447790"/>
            <a:ext cx="5245560" cy="777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9"/>
          <p:cNvSpPr txBox="1"/>
          <p:nvPr>
            <p:ph idx="1" type="body"/>
          </p:nvPr>
        </p:nvSpPr>
        <p:spPr>
          <a:xfrm>
            <a:off x="585897" y="2379663"/>
            <a:ext cx="5245561" cy="33932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3" type="body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9"/>
          <p:cNvSpPr txBox="1"/>
          <p:nvPr>
            <p:ph idx="4" type="body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9"/>
          <p:cNvSpPr txBox="1"/>
          <p:nvPr>
            <p:ph idx="5" type="body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_2">
  <p:cSld name="Текст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n&#10;&#10;Description automatically generated" id="39" name="Google Shape;3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0" name="Google Shape;40;p20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1" name="Google Shape;41;p20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2" name="Google Shape;42;p20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43" name="Google Shape;43;p20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" name="Google Shape;44;p20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45" name="Google Shape;45;p20"/>
          <p:cNvSpPr txBox="1"/>
          <p:nvPr>
            <p:ph idx="1" type="body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20"/>
          <p:cNvSpPr txBox="1"/>
          <p:nvPr>
            <p:ph idx="2" type="body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20"/>
          <p:cNvSpPr txBox="1"/>
          <p:nvPr>
            <p:ph type="title"/>
          </p:nvPr>
        </p:nvSpPr>
        <p:spPr>
          <a:xfrm>
            <a:off x="585897" y="1447790"/>
            <a:ext cx="11057955" cy="777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3" type="body"/>
          </p:nvPr>
        </p:nvSpPr>
        <p:spPr>
          <a:xfrm>
            <a:off x="585897" y="2379663"/>
            <a:ext cx="11057971" cy="37450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20"/>
          <p:cNvSpPr txBox="1"/>
          <p:nvPr>
            <p:ph idx="4" type="body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_3">
  <p:cSld name="Текст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n&#10;&#10;Description automatically generated" id="51" name="Google Shape;5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2" name="Google Shape;52;p21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53" name="Google Shape;53;p21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54" name="Google Shape;54;p21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55" name="Google Shape;55;p21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" name="Google Shape;56;p21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57" name="Google Shape;57;p21"/>
          <p:cNvSpPr txBox="1"/>
          <p:nvPr>
            <p:ph idx="1" type="body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2" type="body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9" name="Google Shape;59;p21"/>
          <p:cNvSpPr txBox="1"/>
          <p:nvPr>
            <p:ph idx="3" type="body"/>
          </p:nvPr>
        </p:nvSpPr>
        <p:spPr>
          <a:xfrm>
            <a:off x="585898" y="2379663"/>
            <a:ext cx="4322531" cy="2399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21"/>
          <p:cNvSpPr txBox="1"/>
          <p:nvPr>
            <p:ph idx="4" type="body"/>
          </p:nvPr>
        </p:nvSpPr>
        <p:spPr>
          <a:xfrm>
            <a:off x="585897" y="5183249"/>
            <a:ext cx="3934345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21"/>
          <p:cNvSpPr txBox="1"/>
          <p:nvPr>
            <p:ph idx="5" type="body"/>
          </p:nvPr>
        </p:nvSpPr>
        <p:spPr>
          <a:xfrm>
            <a:off x="6259892" y="2379663"/>
            <a:ext cx="5383968" cy="34517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3200"/>
              <a:buFont typeface="Arial"/>
              <a:buNone/>
              <a:defRPr b="0" i="0" sz="32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2" name="Google Shape;62;p21"/>
          <p:cNvSpPr txBox="1"/>
          <p:nvPr>
            <p:ph idx="6" type="body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3" name="Google Shape;63;p21"/>
          <p:cNvSpPr txBox="1"/>
          <p:nvPr>
            <p:ph type="title"/>
          </p:nvPr>
        </p:nvSpPr>
        <p:spPr>
          <a:xfrm>
            <a:off x="585897" y="1447790"/>
            <a:ext cx="11057955" cy="777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График_1">
  <p:cSld name="График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n&#10;&#10;Description automatically generated" id="65" name="Google Shape;6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" name="Google Shape;66;p22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67" name="Google Shape;67;p22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68" name="Google Shape;68;p22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9" name="Google Shape;69;p22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" name="Google Shape;70;p22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1" name="Google Shape;71;p22"/>
          <p:cNvSpPr txBox="1"/>
          <p:nvPr>
            <p:ph idx="1" type="body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2" type="body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3" type="body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22"/>
          <p:cNvSpPr txBox="1"/>
          <p:nvPr>
            <p:ph type="title"/>
          </p:nvPr>
        </p:nvSpPr>
        <p:spPr>
          <a:xfrm>
            <a:off x="585899" y="1447790"/>
            <a:ext cx="4322530" cy="777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2"/>
          <p:cNvSpPr txBox="1"/>
          <p:nvPr>
            <p:ph idx="4" type="body"/>
          </p:nvPr>
        </p:nvSpPr>
        <p:spPr>
          <a:xfrm>
            <a:off x="585898" y="2379663"/>
            <a:ext cx="4322531" cy="2399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5" type="body"/>
          </p:nvPr>
        </p:nvSpPr>
        <p:spPr>
          <a:xfrm>
            <a:off x="585897" y="5183249"/>
            <a:ext cx="3934345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2"/>
          <p:cNvSpPr/>
          <p:nvPr>
            <p:ph idx="6" type="chart"/>
          </p:nvPr>
        </p:nvSpPr>
        <p:spPr>
          <a:xfrm>
            <a:off x="5272097" y="1447790"/>
            <a:ext cx="6371768" cy="42894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График_2">
  <p:cSld name="График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n&#10;&#10;Description automatically generated" id="79" name="Google Shape;79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0" name="Google Shape;80;p23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1" name="Google Shape;81;p23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2" name="Google Shape;82;p23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3" name="Google Shape;83;p23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4" name="Google Shape;84;p23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" name="Google Shape;85;p23"/>
          <p:cNvSpPr txBox="1"/>
          <p:nvPr>
            <p:ph idx="1" type="body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6" name="Google Shape;86;p23"/>
          <p:cNvSpPr txBox="1"/>
          <p:nvPr>
            <p:ph idx="2" type="body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7" name="Google Shape;87;p23"/>
          <p:cNvSpPr txBox="1"/>
          <p:nvPr>
            <p:ph idx="3" type="body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23"/>
          <p:cNvSpPr txBox="1"/>
          <p:nvPr>
            <p:ph idx="4" type="body"/>
          </p:nvPr>
        </p:nvSpPr>
        <p:spPr>
          <a:xfrm>
            <a:off x="585897" y="5183249"/>
            <a:ext cx="3934345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23"/>
          <p:cNvSpPr/>
          <p:nvPr>
            <p:ph idx="5" type="chart"/>
          </p:nvPr>
        </p:nvSpPr>
        <p:spPr>
          <a:xfrm>
            <a:off x="5272097" y="1447790"/>
            <a:ext cx="6371768" cy="42894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0" name="Google Shape;90;p23"/>
          <p:cNvSpPr txBox="1"/>
          <p:nvPr>
            <p:ph idx="6" type="body"/>
          </p:nvPr>
        </p:nvSpPr>
        <p:spPr>
          <a:xfrm>
            <a:off x="585788" y="1447064"/>
            <a:ext cx="4322762" cy="7032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600"/>
              <a:buNone/>
              <a:defRPr b="0" i="0" sz="16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02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b="0" i="0" sz="16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b="0" i="0" sz="16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b="0" i="0" sz="16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b="0" i="0" sz="16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23"/>
          <p:cNvSpPr txBox="1"/>
          <p:nvPr>
            <p:ph idx="7" type="body"/>
          </p:nvPr>
        </p:nvSpPr>
        <p:spPr>
          <a:xfrm>
            <a:off x="585898" y="2379663"/>
            <a:ext cx="4322531" cy="2399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Цифры">
  <p:cSld name="Цифры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n&#10;&#10;Description automatically generated" id="93" name="Google Shape;93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4" name="Google Shape;94;p24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95" name="Google Shape;95;p24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96" name="Google Shape;96;p24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7" name="Google Shape;97;p24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8" name="Google Shape;98;p24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9" name="Google Shape;99;p24"/>
          <p:cNvSpPr txBox="1"/>
          <p:nvPr>
            <p:ph idx="1" type="body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24"/>
          <p:cNvSpPr txBox="1"/>
          <p:nvPr>
            <p:ph idx="2" type="body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1" name="Google Shape;101;p24"/>
          <p:cNvSpPr txBox="1"/>
          <p:nvPr>
            <p:ph idx="3" type="body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2" name="Google Shape;102;p24"/>
          <p:cNvSpPr txBox="1"/>
          <p:nvPr>
            <p:ph type="title"/>
          </p:nvPr>
        </p:nvSpPr>
        <p:spPr>
          <a:xfrm>
            <a:off x="585897" y="1447790"/>
            <a:ext cx="11057955" cy="777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24"/>
          <p:cNvSpPr txBox="1"/>
          <p:nvPr>
            <p:ph idx="4" type="body"/>
          </p:nvPr>
        </p:nvSpPr>
        <p:spPr>
          <a:xfrm>
            <a:off x="575076" y="4103994"/>
            <a:ext cx="2758143" cy="15696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4" name="Google Shape;104;p24"/>
          <p:cNvSpPr txBox="1"/>
          <p:nvPr>
            <p:ph idx="5" type="body"/>
          </p:nvPr>
        </p:nvSpPr>
        <p:spPr>
          <a:xfrm>
            <a:off x="4047007" y="4103994"/>
            <a:ext cx="2757612" cy="15696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5" name="Google Shape;105;p24"/>
          <p:cNvSpPr txBox="1"/>
          <p:nvPr>
            <p:ph idx="6" type="body"/>
          </p:nvPr>
        </p:nvSpPr>
        <p:spPr>
          <a:xfrm>
            <a:off x="7518938" y="4103994"/>
            <a:ext cx="2757612" cy="15696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6" name="Google Shape;106;p24"/>
          <p:cNvSpPr txBox="1"/>
          <p:nvPr>
            <p:ph idx="7" type="body"/>
          </p:nvPr>
        </p:nvSpPr>
        <p:spPr>
          <a:xfrm>
            <a:off x="575076" y="2710235"/>
            <a:ext cx="2758143" cy="11641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>
                <a:latin typeface="Arial"/>
                <a:ea typeface="Arial"/>
                <a:cs typeface="Arial"/>
                <a:sym typeface="Arial"/>
              </a:defRPr>
            </a:lvl1pPr>
            <a:lvl2pPr indent="-8382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2pPr>
            <a:lvl3pPr indent="-838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3pPr>
            <a:lvl4pPr indent="-838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4pPr>
            <a:lvl5pPr indent="-838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7" name="Google Shape;107;p24"/>
          <p:cNvSpPr txBox="1"/>
          <p:nvPr>
            <p:ph idx="8" type="body"/>
          </p:nvPr>
        </p:nvSpPr>
        <p:spPr>
          <a:xfrm>
            <a:off x="4047007" y="2710235"/>
            <a:ext cx="2758143" cy="11641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>
                <a:latin typeface="Arial"/>
                <a:ea typeface="Arial"/>
                <a:cs typeface="Arial"/>
                <a:sym typeface="Arial"/>
              </a:defRPr>
            </a:lvl1pPr>
            <a:lvl2pPr indent="-8382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2pPr>
            <a:lvl3pPr indent="-838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3pPr>
            <a:lvl4pPr indent="-838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4pPr>
            <a:lvl5pPr indent="-838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24"/>
          <p:cNvSpPr txBox="1"/>
          <p:nvPr>
            <p:ph idx="9" type="body"/>
          </p:nvPr>
        </p:nvSpPr>
        <p:spPr>
          <a:xfrm>
            <a:off x="7518938" y="2710235"/>
            <a:ext cx="2758143" cy="11641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>
                <a:latin typeface="Arial"/>
                <a:ea typeface="Arial"/>
                <a:cs typeface="Arial"/>
                <a:sym typeface="Arial"/>
              </a:defRPr>
            </a:lvl1pPr>
            <a:lvl2pPr indent="-8382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2pPr>
            <a:lvl3pPr indent="-838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3pPr>
            <a:lvl4pPr indent="-838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4pPr>
            <a:lvl5pPr indent="-838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аблица_1">
  <p:cSld name="Таблица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n&#10;&#10;Description automatically generated" id="110" name="Google Shape;110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1" name="Google Shape;111;p25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2" name="Google Shape;112;p25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3" name="Google Shape;113;p25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4" name="Google Shape;114;p25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5" name="Google Shape;115;p25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25"/>
          <p:cNvSpPr txBox="1"/>
          <p:nvPr>
            <p:ph idx="2" type="body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25"/>
          <p:cNvSpPr txBox="1"/>
          <p:nvPr>
            <p:ph idx="3" type="body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25"/>
          <p:cNvSpPr txBox="1"/>
          <p:nvPr>
            <p:ph idx="4" type="body"/>
          </p:nvPr>
        </p:nvSpPr>
        <p:spPr>
          <a:xfrm>
            <a:off x="585787" y="1447065"/>
            <a:ext cx="11058065" cy="3077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600"/>
              <a:buNone/>
              <a:defRPr b="0" i="0" sz="16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02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b="0" i="0" sz="16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b="0" i="0" sz="16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b="0" i="0" sz="16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b="0" i="0" sz="16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0" name="Google Shape;120;p25"/>
          <p:cNvSpPr txBox="1"/>
          <p:nvPr>
            <p:ph idx="5" type="body"/>
          </p:nvPr>
        </p:nvSpPr>
        <p:spPr>
          <a:xfrm>
            <a:off x="585788" y="5739189"/>
            <a:ext cx="6824303" cy="7032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115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300"/>
              <a:buChar char="•"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115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300"/>
              <a:buChar char="•"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115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300"/>
              <a:buChar char="•"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115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300"/>
              <a:buChar char="•"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аблица_2">
  <p:cSld name="Таблица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n&#10;&#10;Description automatically generated" id="122" name="Google Shape;12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" name="Google Shape;123;p26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24" name="Google Shape;124;p26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25" name="Google Shape;125;p26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6" name="Google Shape;126;p26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7" name="Google Shape;127;p26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8" name="Google Shape;128;p26"/>
          <p:cNvSpPr txBox="1"/>
          <p:nvPr>
            <p:ph idx="1" type="body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9" name="Google Shape;129;p26"/>
          <p:cNvSpPr txBox="1"/>
          <p:nvPr>
            <p:ph idx="2" type="body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26"/>
          <p:cNvSpPr txBox="1"/>
          <p:nvPr>
            <p:ph idx="3" type="body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1" name="Google Shape;131;p26"/>
          <p:cNvSpPr txBox="1"/>
          <p:nvPr>
            <p:ph idx="4" type="body"/>
          </p:nvPr>
        </p:nvSpPr>
        <p:spPr>
          <a:xfrm>
            <a:off x="585787" y="1447064"/>
            <a:ext cx="7617877" cy="5370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600"/>
              <a:buNone/>
              <a:defRPr b="0" i="0" sz="16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02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b="0" i="0" sz="16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b="0" i="0" sz="16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b="0" i="0" sz="16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600"/>
              <a:buChar char="•"/>
              <a:defRPr b="0" i="0" sz="16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2" name="Google Shape;132;p26"/>
          <p:cNvSpPr txBox="1"/>
          <p:nvPr>
            <p:ph idx="5" type="body"/>
          </p:nvPr>
        </p:nvSpPr>
        <p:spPr>
          <a:xfrm>
            <a:off x="585788" y="5739189"/>
            <a:ext cx="6824303" cy="7032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115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300"/>
              <a:buChar char="•"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115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300"/>
              <a:buChar char="•"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115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300"/>
              <a:buChar char="•"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115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300"/>
              <a:buChar char="•"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3" name="Google Shape;133;p26"/>
          <p:cNvSpPr txBox="1"/>
          <p:nvPr>
            <p:ph idx="6" type="body"/>
          </p:nvPr>
        </p:nvSpPr>
        <p:spPr>
          <a:xfrm>
            <a:off x="8686807" y="2208363"/>
            <a:ext cx="2930666" cy="25706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чистый">
  <p:cSld name="чистый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rgbClr val="0A204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6" name="Google Shape;136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10809" y="2643809"/>
            <a:ext cx="1570383" cy="15703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чистый_2">
  <p:cSld name="чистый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n&#10;&#10;Description automatically generated" id="138" name="Google Shape;138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9" name="Google Shape;139;p28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40" name="Google Shape;140;p28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41" name="Google Shape;141;p28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2" name="Google Shape;142;p28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3" name="Google Shape;143;p28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4" name="Google Shape;144;p28"/>
          <p:cNvSpPr txBox="1"/>
          <p:nvPr>
            <p:ph idx="1" type="body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5" name="Google Shape;145;p28"/>
          <p:cNvSpPr txBox="1"/>
          <p:nvPr>
            <p:ph idx="2" type="body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28"/>
          <p:cNvSpPr txBox="1"/>
          <p:nvPr>
            <p:ph idx="3" type="body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цвет">
  <p:cSld name="цвет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n&#10;&#10;Description automatically generated" id="148" name="Google Shape;14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7199" y="464363"/>
            <a:ext cx="448276" cy="4482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9" name="Google Shape;149;p29"/>
          <p:cNvCxnSpPr/>
          <p:nvPr/>
        </p:nvCxnSpPr>
        <p:spPr>
          <a:xfrm>
            <a:off x="329868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50" name="Google Shape;150;p29"/>
          <p:cNvCxnSpPr/>
          <p:nvPr/>
        </p:nvCxnSpPr>
        <p:spPr>
          <a:xfrm>
            <a:off x="6099416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51" name="Google Shape;151;p29"/>
          <p:cNvCxnSpPr/>
          <p:nvPr/>
        </p:nvCxnSpPr>
        <p:spPr>
          <a:xfrm>
            <a:off x="10277081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52" name="Google Shape;152;p29"/>
          <p:cNvSpPr txBox="1"/>
          <p:nvPr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000">
                <a:solidFill>
                  <a:srgbClr val="102D6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2000">
              <a:solidFill>
                <a:srgbClr val="102D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3" name="Google Shape;153;p29"/>
          <p:cNvCxnSpPr/>
          <p:nvPr/>
        </p:nvCxnSpPr>
        <p:spPr>
          <a:xfrm>
            <a:off x="11643868" y="464363"/>
            <a:ext cx="0" cy="586260"/>
          </a:xfrm>
          <a:prstGeom prst="straightConnector1">
            <a:avLst/>
          </a:prstGeom>
          <a:noFill/>
          <a:ln cap="flat" cmpd="sng" w="12700">
            <a:solidFill>
              <a:srgbClr val="102D69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54" name="Google Shape;154;p29"/>
          <p:cNvSpPr txBox="1"/>
          <p:nvPr>
            <p:ph idx="1" type="body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0" i="0" sz="100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5" name="Google Shape;155;p29"/>
          <p:cNvSpPr txBox="1"/>
          <p:nvPr>
            <p:ph idx="2" type="body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6" name="Google Shape;156;p29"/>
          <p:cNvSpPr txBox="1"/>
          <p:nvPr>
            <p:ph idx="3" type="body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  <a:defRPr b="0" i="0" sz="10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7" name="Google Shape;157;p29"/>
          <p:cNvSpPr txBox="1"/>
          <p:nvPr>
            <p:ph type="title"/>
          </p:nvPr>
        </p:nvSpPr>
        <p:spPr>
          <a:xfrm>
            <a:off x="585899" y="1447790"/>
            <a:ext cx="4322530" cy="777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8" name="Google Shape;158;p29"/>
          <p:cNvSpPr txBox="1"/>
          <p:nvPr>
            <p:ph idx="4" type="body"/>
          </p:nvPr>
        </p:nvSpPr>
        <p:spPr>
          <a:xfrm>
            <a:off x="585898" y="2379663"/>
            <a:ext cx="4322531" cy="2399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  <a:defRPr b="0" i="0" sz="1300">
                <a:solidFill>
                  <a:srgbClr val="0E2D6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9" name="Google Shape;159;p29"/>
          <p:cNvSpPr/>
          <p:nvPr/>
        </p:nvSpPr>
        <p:spPr>
          <a:xfrm>
            <a:off x="5392982" y="1447790"/>
            <a:ext cx="830997" cy="830997"/>
          </a:xfrm>
          <a:prstGeom prst="ellipse">
            <a:avLst/>
          </a:prstGeom>
          <a:solidFill>
            <a:srgbClr val="0E2D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9"/>
          <p:cNvSpPr/>
          <p:nvPr/>
        </p:nvSpPr>
        <p:spPr>
          <a:xfrm>
            <a:off x="6742925" y="1447790"/>
            <a:ext cx="830997" cy="830997"/>
          </a:xfrm>
          <a:prstGeom prst="ellipse">
            <a:avLst/>
          </a:prstGeom>
          <a:solidFill>
            <a:srgbClr val="234A9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29"/>
          <p:cNvSpPr/>
          <p:nvPr/>
        </p:nvSpPr>
        <p:spPr>
          <a:xfrm>
            <a:off x="8092868" y="1447790"/>
            <a:ext cx="830997" cy="830997"/>
          </a:xfrm>
          <a:prstGeom prst="ellipse">
            <a:avLst/>
          </a:prstGeom>
          <a:solidFill>
            <a:srgbClr val="11A0D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9"/>
          <p:cNvSpPr/>
          <p:nvPr/>
        </p:nvSpPr>
        <p:spPr>
          <a:xfrm>
            <a:off x="9442811" y="1447790"/>
            <a:ext cx="830997" cy="830997"/>
          </a:xfrm>
          <a:prstGeom prst="ellipse">
            <a:avLst/>
          </a:prstGeom>
          <a:solidFill>
            <a:srgbClr val="029C6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9"/>
          <p:cNvSpPr/>
          <p:nvPr/>
        </p:nvSpPr>
        <p:spPr>
          <a:xfrm>
            <a:off x="10792754" y="1447790"/>
            <a:ext cx="830997" cy="830997"/>
          </a:xfrm>
          <a:prstGeom prst="ellipse">
            <a:avLst/>
          </a:prstGeom>
          <a:solidFill>
            <a:srgbClr val="EB681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9"/>
          <p:cNvSpPr/>
          <p:nvPr/>
        </p:nvSpPr>
        <p:spPr>
          <a:xfrm>
            <a:off x="5392982" y="2708699"/>
            <a:ext cx="830997" cy="830997"/>
          </a:xfrm>
          <a:prstGeom prst="ellipse">
            <a:avLst/>
          </a:prstGeom>
          <a:solidFill>
            <a:srgbClr val="7D4EB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9"/>
          <p:cNvSpPr/>
          <p:nvPr/>
        </p:nvSpPr>
        <p:spPr>
          <a:xfrm>
            <a:off x="6742925" y="2708699"/>
            <a:ext cx="830997" cy="830997"/>
          </a:xfrm>
          <a:prstGeom prst="ellipse">
            <a:avLst/>
          </a:prstGeom>
          <a:solidFill>
            <a:srgbClr val="E61F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9"/>
          <p:cNvSpPr/>
          <p:nvPr/>
        </p:nvSpPr>
        <p:spPr>
          <a:xfrm>
            <a:off x="8092868" y="2708699"/>
            <a:ext cx="830997" cy="830997"/>
          </a:xfrm>
          <a:prstGeom prst="ellipse">
            <a:avLst/>
          </a:prstGeom>
          <a:solidFill>
            <a:srgbClr val="FBBA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9"/>
          <p:cNvSpPr/>
          <p:nvPr/>
        </p:nvSpPr>
        <p:spPr>
          <a:xfrm>
            <a:off x="9442811" y="2708699"/>
            <a:ext cx="830997" cy="830997"/>
          </a:xfrm>
          <a:prstGeom prst="ellipse">
            <a:avLst/>
          </a:prstGeom>
          <a:solidFill>
            <a:srgbClr val="7DA0D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9"/>
          <p:cNvSpPr/>
          <p:nvPr/>
        </p:nvSpPr>
        <p:spPr>
          <a:xfrm>
            <a:off x="10792754" y="2708699"/>
            <a:ext cx="830997" cy="830997"/>
          </a:xfrm>
          <a:prstGeom prst="ellipse">
            <a:avLst/>
          </a:prstGeom>
          <a:solidFill>
            <a:srgbClr val="47A0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9"/>
          <p:cNvSpPr/>
          <p:nvPr/>
        </p:nvSpPr>
        <p:spPr>
          <a:xfrm>
            <a:off x="5392982" y="3969609"/>
            <a:ext cx="830997" cy="830997"/>
          </a:xfrm>
          <a:prstGeom prst="ellipse">
            <a:avLst/>
          </a:prstGeom>
          <a:solidFill>
            <a:srgbClr val="EB8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9"/>
          <p:cNvSpPr/>
          <p:nvPr/>
        </p:nvSpPr>
        <p:spPr>
          <a:xfrm>
            <a:off x="6742925" y="3969609"/>
            <a:ext cx="830997" cy="830997"/>
          </a:xfrm>
          <a:prstGeom prst="ellipse">
            <a:avLst/>
          </a:prstGeom>
          <a:solidFill>
            <a:srgbClr val="9662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9"/>
          <p:cNvSpPr/>
          <p:nvPr/>
        </p:nvSpPr>
        <p:spPr>
          <a:xfrm>
            <a:off x="8092868" y="3969609"/>
            <a:ext cx="830997" cy="830997"/>
          </a:xfrm>
          <a:prstGeom prst="ellipse">
            <a:avLst/>
          </a:prstGeom>
          <a:solidFill>
            <a:srgbClr val="CD5A5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9"/>
          <p:cNvSpPr/>
          <p:nvPr/>
        </p:nvSpPr>
        <p:spPr>
          <a:xfrm>
            <a:off x="9442811" y="3969609"/>
            <a:ext cx="830997" cy="830997"/>
          </a:xfrm>
          <a:prstGeom prst="ellipse">
            <a:avLst/>
          </a:prstGeom>
          <a:solidFill>
            <a:srgbClr val="FFD74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9"/>
          <p:cNvSpPr/>
          <p:nvPr/>
        </p:nvSpPr>
        <p:spPr>
          <a:xfrm>
            <a:off x="10792754" y="3969609"/>
            <a:ext cx="830997" cy="830997"/>
          </a:xfrm>
          <a:prstGeom prst="ellipse">
            <a:avLst/>
          </a:prstGeom>
          <a:solidFill>
            <a:srgbClr val="CDDD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9"/>
          <p:cNvSpPr/>
          <p:nvPr/>
        </p:nvSpPr>
        <p:spPr>
          <a:xfrm>
            <a:off x="5392982" y="5249769"/>
            <a:ext cx="830997" cy="830997"/>
          </a:xfrm>
          <a:prstGeom prst="ellipse">
            <a:avLst/>
          </a:prstGeom>
          <a:solidFill>
            <a:srgbClr val="D7EB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9"/>
          <p:cNvSpPr/>
          <p:nvPr/>
        </p:nvSpPr>
        <p:spPr>
          <a:xfrm>
            <a:off x="6742925" y="5249769"/>
            <a:ext cx="830997" cy="830997"/>
          </a:xfrm>
          <a:prstGeom prst="ellipse">
            <a:avLst/>
          </a:prstGeom>
          <a:solidFill>
            <a:srgbClr val="FFDC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9"/>
          <p:cNvSpPr/>
          <p:nvPr/>
        </p:nvSpPr>
        <p:spPr>
          <a:xfrm>
            <a:off x="8092868" y="5249769"/>
            <a:ext cx="830997" cy="830997"/>
          </a:xfrm>
          <a:prstGeom prst="ellipse">
            <a:avLst/>
          </a:prstGeom>
          <a:solidFill>
            <a:srgbClr val="D7C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9"/>
          <p:cNvSpPr/>
          <p:nvPr/>
        </p:nvSpPr>
        <p:spPr>
          <a:xfrm>
            <a:off x="9442811" y="5249769"/>
            <a:ext cx="830997" cy="830997"/>
          </a:xfrm>
          <a:prstGeom prst="ellipse">
            <a:avLst/>
          </a:prstGeom>
          <a:solidFill>
            <a:srgbClr val="F6C3C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9"/>
          <p:cNvSpPr/>
          <p:nvPr/>
        </p:nvSpPr>
        <p:spPr>
          <a:xfrm>
            <a:off x="10792754" y="5249769"/>
            <a:ext cx="830997" cy="830997"/>
          </a:xfrm>
          <a:prstGeom prst="ellipse">
            <a:avLst/>
          </a:prstGeom>
          <a:solidFill>
            <a:srgbClr val="FFF07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C9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"/>
          <p:cNvSpPr txBox="1"/>
          <p:nvPr>
            <p:ph type="title"/>
          </p:nvPr>
        </p:nvSpPr>
        <p:spPr>
          <a:xfrm>
            <a:off x="1027977" y="2404675"/>
            <a:ext cx="9976500" cy="20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ct val="100000"/>
              <a:buFont typeface="Arial"/>
              <a:buNone/>
            </a:pPr>
            <a:r>
              <a:rPr lang="ru-RU"/>
              <a:t>Выявление договоров с подозрениями на нарушения при помощи системы дополненной генерации на базе корпоративной большой языковой модели</a:t>
            </a:r>
            <a:endParaRPr/>
          </a:p>
        </p:txBody>
      </p:sp>
      <p:sp>
        <p:nvSpPr>
          <p:cNvPr id="184" name="Google Shape;184;p1"/>
          <p:cNvSpPr txBox="1"/>
          <p:nvPr>
            <p:ph idx="1" type="body"/>
          </p:nvPr>
        </p:nvSpPr>
        <p:spPr>
          <a:xfrm>
            <a:off x="2074947" y="1187841"/>
            <a:ext cx="3848700" cy="4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Руководитель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старший преподаватель Департамента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больших данных и информационного поиска факультета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Паточенко Евгений Анатольевич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/>
            </a:r>
            <a:endParaRPr/>
          </a:p>
        </p:txBody>
      </p:sp>
      <p:sp>
        <p:nvSpPr>
          <p:cNvPr id="185" name="Google Shape;185;p1"/>
          <p:cNvSpPr txBox="1"/>
          <p:nvPr>
            <p:ph idx="2" type="body"/>
          </p:nvPr>
        </p:nvSpPr>
        <p:spPr>
          <a:xfrm>
            <a:off x="6159800" y="1056575"/>
            <a:ext cx="2493300" cy="12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Консультант (если имеется)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JPMorgan Chase, Сингапур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Архитектор систем хранилищ данных и операционной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аналитики в департаменте Корпоративного Инвестиционного Банкинга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Павловский Александр</a:t>
            </a:r>
            <a:endParaRPr/>
          </a:p>
        </p:txBody>
      </p:sp>
      <p:sp>
        <p:nvSpPr>
          <p:cNvPr id="186" name="Google Shape;186;p1"/>
          <p:cNvSpPr txBox="1"/>
          <p:nvPr>
            <p:ph idx="3" type="body"/>
          </p:nvPr>
        </p:nvSpPr>
        <p:spPr>
          <a:xfrm>
            <a:off x="8786720" y="1173829"/>
            <a:ext cx="2217738" cy="4631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87" name="Google Shape;187;p1"/>
          <p:cNvSpPr txBox="1"/>
          <p:nvPr>
            <p:ph idx="4" type="body"/>
          </p:nvPr>
        </p:nvSpPr>
        <p:spPr>
          <a:xfrm>
            <a:off x="1027967" y="4824914"/>
            <a:ext cx="7625267" cy="652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Студент: </a:t>
            </a:r>
            <a:r>
              <a:rPr lang="ru-RU"/>
              <a:t>Шалимов Константин Алексеевич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по направлению подготовки 01.04.02 Прикладная математика и информатика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образовательная программа «Аналитика больших данных»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b3c049816_0_5"/>
          <p:cNvSpPr txBox="1"/>
          <p:nvPr>
            <p:ph idx="1" type="body"/>
          </p:nvPr>
        </p:nvSpPr>
        <p:spPr>
          <a:xfrm>
            <a:off x="1143689" y="540904"/>
            <a:ext cx="1901700" cy="4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93" name="Google Shape;193;g3db3c049816_0_5"/>
          <p:cNvSpPr txBox="1"/>
          <p:nvPr>
            <p:ph idx="2" type="body"/>
          </p:nvPr>
        </p:nvSpPr>
        <p:spPr>
          <a:xfrm>
            <a:off x="3459163" y="548720"/>
            <a:ext cx="20700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/>
          </a:p>
        </p:txBody>
      </p:sp>
      <p:sp>
        <p:nvSpPr>
          <p:cNvPr id="194" name="Google Shape;194;g3db3c049816_0_5"/>
          <p:cNvSpPr txBox="1"/>
          <p:nvPr>
            <p:ph type="title"/>
          </p:nvPr>
        </p:nvSpPr>
        <p:spPr>
          <a:xfrm>
            <a:off x="585897" y="1447790"/>
            <a:ext cx="11058000" cy="7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ru-RU"/>
              <a:t>Задача и цели</a:t>
            </a:r>
            <a:endParaRPr/>
          </a:p>
        </p:txBody>
      </p:sp>
      <p:sp>
        <p:nvSpPr>
          <p:cNvPr id="195" name="Google Shape;195;g3db3c049816_0_5"/>
          <p:cNvSpPr txBox="1"/>
          <p:nvPr>
            <p:ph idx="3" type="body"/>
          </p:nvPr>
        </p:nvSpPr>
        <p:spPr>
          <a:xfrm>
            <a:off x="585897" y="2379663"/>
            <a:ext cx="11058000" cy="374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</a:pPr>
            <a:r>
              <a:rPr lang="ru-RU"/>
              <a:t>Постановка задачи: разработать систему детектирования нарушений в жизненном цикле документа холдинга Т1 при помощи его анлиза LLM c  системой RAG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</a:pPr>
            <a:r>
              <a:rPr lang="ru-RU"/>
              <a:t>П</a:t>
            </a:r>
            <a:r>
              <a:rPr lang="ru-RU"/>
              <a:t>оставленные цели: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⦁	Проанализировать опыт и методики построения конвейера обработки запроса для работы в юридической сфере,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⦁	Cобрать набор данных для тестирования в вариантах для использования на рабочем месте и для демонстраций в рамках ВКР,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⦁	Проанализировать основные сложности свойственные области и возникшие в данном конкретном случае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⦁	 Определить  и согласовать инструментарий разработки системы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⦁	 Предложить базовую модель конвейера обработки данных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⦁	 Произвести усовершенствования конвейера для повышения качества его работы.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⦁	Продемонстрировать практическое понимание процесса создания, внедрения и применения подобных продуктов.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96" name="Google Shape;196;g3db3c049816_0_5"/>
          <p:cNvSpPr txBox="1"/>
          <p:nvPr>
            <p:ph idx="4" type="body"/>
          </p:nvPr>
        </p:nvSpPr>
        <p:spPr>
          <a:xfrm>
            <a:off x="6259892" y="548720"/>
            <a:ext cx="20700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ddea04373e_0_14"/>
          <p:cNvSpPr txBox="1"/>
          <p:nvPr>
            <p:ph idx="1" type="body"/>
          </p:nvPr>
        </p:nvSpPr>
        <p:spPr>
          <a:xfrm>
            <a:off x="1143689" y="540904"/>
            <a:ext cx="1901700" cy="4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02" name="Google Shape;202;g3ddea04373e_0_14"/>
          <p:cNvSpPr txBox="1"/>
          <p:nvPr>
            <p:ph idx="2" type="body"/>
          </p:nvPr>
        </p:nvSpPr>
        <p:spPr>
          <a:xfrm>
            <a:off x="3459163" y="548720"/>
            <a:ext cx="20700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/>
          </a:p>
        </p:txBody>
      </p:sp>
      <p:sp>
        <p:nvSpPr>
          <p:cNvPr id="203" name="Google Shape;203;g3ddea04373e_0_14"/>
          <p:cNvSpPr txBox="1"/>
          <p:nvPr>
            <p:ph type="title"/>
          </p:nvPr>
        </p:nvSpPr>
        <p:spPr>
          <a:xfrm>
            <a:off x="967998" y="1060890"/>
            <a:ext cx="10714800" cy="7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ru-RU"/>
              <a:t>Описание данных</a:t>
            </a:r>
            <a:endParaRPr/>
          </a:p>
        </p:txBody>
      </p:sp>
      <p:sp>
        <p:nvSpPr>
          <p:cNvPr id="204" name="Google Shape;204;g3ddea04373e_0_14"/>
          <p:cNvSpPr txBox="1"/>
          <p:nvPr>
            <p:ph idx="3" type="body"/>
          </p:nvPr>
        </p:nvSpPr>
        <p:spPr>
          <a:xfrm>
            <a:off x="585900" y="1492850"/>
            <a:ext cx="5136900" cy="337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>
                <a:solidFill>
                  <a:srgbClr val="000000"/>
                </a:solidFill>
                <a:highlight>
                  <a:srgbClr val="FFFFFF"/>
                </a:highlight>
              </a:rPr>
              <a:t>Выводы на основании реальных данных:</a:t>
            </a:r>
            <a:endParaRPr sz="125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indent="-30797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AutoNum type="arabicPeriod"/>
            </a:pPr>
            <a:r>
              <a:rPr lang="ru-RU" sz="1250">
                <a:solidFill>
                  <a:srgbClr val="000000"/>
                </a:solidFill>
                <a:highlight>
                  <a:srgbClr val="FFFFFF"/>
                </a:highlight>
              </a:rPr>
              <a:t>в отличие от синтетики качество данных в ряде показателей не всегда является удовлетворительным.</a:t>
            </a:r>
            <a:endParaRPr sz="125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indent="-30797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AutoNum type="arabicPeriod"/>
            </a:pPr>
            <a:r>
              <a:rPr lang="ru-RU" sz="1250">
                <a:solidFill>
                  <a:srgbClr val="000000"/>
                </a:solidFill>
                <a:highlight>
                  <a:srgbClr val="FFFFFF"/>
                </a:highlight>
              </a:rPr>
              <a:t>Ряд решений оформляется свободно вводимым людьми текстом. </a:t>
            </a:r>
            <a:endParaRPr sz="125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indent="-30797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AutoNum type="arabicPeriod"/>
            </a:pPr>
            <a:r>
              <a:rPr lang="ru-RU" sz="1250">
                <a:solidFill>
                  <a:srgbClr val="000000"/>
                </a:solidFill>
                <a:highlight>
                  <a:srgbClr val="FFFFFF"/>
                </a:highlight>
              </a:rPr>
              <a:t>Классификация ряда применяющихся типов не очевидна, часто имеются синонимичные по общему смыслу типы с разными классами в системе.</a:t>
            </a:r>
            <a:endParaRPr sz="125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indent="-30797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AutoNum type="arabicPeriod"/>
            </a:pPr>
            <a:r>
              <a:rPr lang="ru-RU" sz="1250">
                <a:solidFill>
                  <a:srgbClr val="000000"/>
                </a:solidFill>
                <a:highlight>
                  <a:srgbClr val="FFFFFF"/>
                </a:highlight>
              </a:rPr>
              <a:t>В ряде процедур отсутствует однозначная связь между конкретной заявкой и итоговым документом, что требует анализа текста 1-4 заявок. Часто в разных системах для обозначения одного и того же используются разные варианты написания, что усложняет сверку алгоритмами, однако при помощи алгоритмических методов можно значительно сократить количество анализируемых строк (в конкретном примере переписанных в процессе условий получилось снизить количество случаев с тысяч до около двух сотен)</a:t>
            </a:r>
            <a:endParaRPr sz="1500"/>
          </a:p>
        </p:txBody>
      </p:sp>
      <p:sp>
        <p:nvSpPr>
          <p:cNvPr id="205" name="Google Shape;205;g3ddea04373e_0_14"/>
          <p:cNvSpPr txBox="1"/>
          <p:nvPr>
            <p:ph idx="4" type="body"/>
          </p:nvPr>
        </p:nvSpPr>
        <p:spPr>
          <a:xfrm>
            <a:off x="1045147" y="5369849"/>
            <a:ext cx="3934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150">
                <a:solidFill>
                  <a:srgbClr val="000000"/>
                </a:solidFill>
                <a:highlight>
                  <a:srgbClr val="FFFFFF"/>
                </a:highlight>
              </a:rPr>
              <a:t>Поскольку исходники датасетов с моей работы находятся под NDA данный EDA проведён на синтетических данных и </a:t>
            </a:r>
            <a:r>
              <a:rPr b="1" lang="ru-RU" sz="1150">
                <a:solidFill>
                  <a:srgbClr val="000000"/>
                </a:solidFill>
                <a:highlight>
                  <a:srgbClr val="FFFFFF"/>
                </a:highlight>
              </a:rPr>
              <a:t>не </a:t>
            </a:r>
            <a:r>
              <a:rPr lang="ru-RU" sz="1150">
                <a:solidFill>
                  <a:srgbClr val="000000"/>
                </a:solidFill>
                <a:highlight>
                  <a:srgbClr val="FFFFFF"/>
                </a:highlight>
              </a:rPr>
              <a:t>является источником инсайдерской информации.</a:t>
            </a:r>
            <a:r>
              <a:rPr lang="ru-RU" sz="1200">
                <a:solidFill>
                  <a:srgbClr val="000000"/>
                </a:solidFill>
              </a:rPr>
              <a:t> </a:t>
            </a:r>
            <a:endParaRPr sz="1100"/>
          </a:p>
        </p:txBody>
      </p:sp>
      <p:sp>
        <p:nvSpPr>
          <p:cNvPr id="206" name="Google Shape;206;g3ddea04373e_0_14"/>
          <p:cNvSpPr txBox="1"/>
          <p:nvPr>
            <p:ph idx="6" type="body"/>
          </p:nvPr>
        </p:nvSpPr>
        <p:spPr>
          <a:xfrm>
            <a:off x="6259892" y="548720"/>
            <a:ext cx="20700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/>
          </a:p>
        </p:txBody>
      </p:sp>
      <p:pic>
        <p:nvPicPr>
          <p:cNvPr id="207" name="Google Shape;207;g3ddea04373e_0_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85575" y="850077"/>
            <a:ext cx="6164401" cy="23849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g3ddea04373e_0_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37022" y="3287400"/>
            <a:ext cx="5912957" cy="1683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g3ddea04373e_0_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895775" y="4822700"/>
            <a:ext cx="4325524" cy="183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ddea04373e_0_28"/>
          <p:cNvSpPr txBox="1"/>
          <p:nvPr>
            <p:ph idx="1" type="body"/>
          </p:nvPr>
        </p:nvSpPr>
        <p:spPr>
          <a:xfrm>
            <a:off x="1143689" y="540904"/>
            <a:ext cx="1901700" cy="4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15" name="Google Shape;215;g3ddea04373e_0_28"/>
          <p:cNvSpPr txBox="1"/>
          <p:nvPr>
            <p:ph idx="2" type="body"/>
          </p:nvPr>
        </p:nvSpPr>
        <p:spPr>
          <a:xfrm>
            <a:off x="3459163" y="548720"/>
            <a:ext cx="20700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/>
          </a:p>
        </p:txBody>
      </p:sp>
      <p:sp>
        <p:nvSpPr>
          <p:cNvPr id="216" name="Google Shape;216;g3ddea04373e_0_28"/>
          <p:cNvSpPr txBox="1"/>
          <p:nvPr>
            <p:ph type="title"/>
          </p:nvPr>
        </p:nvSpPr>
        <p:spPr>
          <a:xfrm>
            <a:off x="585898" y="1447790"/>
            <a:ext cx="10714800" cy="7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ru-RU"/>
              <a:t>Описание бейзлайн-моделей</a:t>
            </a:r>
            <a:endParaRPr/>
          </a:p>
        </p:txBody>
      </p:sp>
      <p:sp>
        <p:nvSpPr>
          <p:cNvPr id="217" name="Google Shape;217;g3ddea04373e_0_28"/>
          <p:cNvSpPr txBox="1"/>
          <p:nvPr>
            <p:ph idx="4" type="body"/>
          </p:nvPr>
        </p:nvSpPr>
        <p:spPr>
          <a:xfrm>
            <a:off x="585897" y="5183249"/>
            <a:ext cx="3934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050">
                <a:solidFill>
                  <a:srgbClr val="000000"/>
                </a:solidFill>
                <a:highlight>
                  <a:srgbClr val="FFFFFF"/>
                </a:highlight>
              </a:rPr>
              <a:t>Поскольку исходники датасетов с моей работы находятся под NDA данный EDA проведён на синтетических данных и не является источником инсайдерской информации.</a:t>
            </a:r>
            <a:r>
              <a:rPr lang="ru-RU" sz="1100">
                <a:solidFill>
                  <a:srgbClr val="000000"/>
                </a:solidFill>
              </a:rPr>
              <a:t> </a:t>
            </a:r>
            <a:endParaRPr/>
          </a:p>
        </p:txBody>
      </p:sp>
      <p:sp>
        <p:nvSpPr>
          <p:cNvPr id="218" name="Google Shape;218;g3ddea04373e_0_28"/>
          <p:cNvSpPr txBox="1"/>
          <p:nvPr>
            <p:ph idx="6" type="body"/>
          </p:nvPr>
        </p:nvSpPr>
        <p:spPr>
          <a:xfrm>
            <a:off x="6259892" y="548720"/>
            <a:ext cx="20700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/>
          </a:p>
        </p:txBody>
      </p:sp>
      <p:pic>
        <p:nvPicPr>
          <p:cNvPr id="219" name="Google Shape;219;g3ddea04373e_0_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42000" y="2224790"/>
            <a:ext cx="6610350" cy="1552575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g3ddea04373e_0_28"/>
          <p:cNvSpPr txBox="1"/>
          <p:nvPr>
            <p:ph idx="6" type="body"/>
          </p:nvPr>
        </p:nvSpPr>
        <p:spPr>
          <a:xfrm>
            <a:off x="585907" y="2224806"/>
            <a:ext cx="3934200" cy="87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rPr lang="ru-RU"/>
              <a:t>Итоги: </a:t>
            </a:r>
            <a:r>
              <a:rPr i="1" lang="ru-RU"/>
              <a:t>“Я выиграл спор у нейронки по поводу термина когда швырнул в неё цитатой документа, он похвалил меня за хорошее исследование, но потом сконцентрировался лишь на одной области применения, игнорируя другие”</a:t>
            </a:r>
            <a:endParaRPr i="1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rPr lang="ru-RU" sz="1300"/>
              <a:t>Модель достаточно хорошо обрабатывает объемы информации, при наличии хорошей и учитывающей все нюансы инструкции способна выполнять сложный анализ, но без неё часто ошибается и не знает необходимых терминов</a:t>
            </a:r>
            <a:endParaRPr sz="1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b3c049816_0_13"/>
          <p:cNvSpPr txBox="1"/>
          <p:nvPr>
            <p:ph idx="1" type="body"/>
          </p:nvPr>
        </p:nvSpPr>
        <p:spPr>
          <a:xfrm>
            <a:off x="1143689" y="540904"/>
            <a:ext cx="1901700" cy="4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26" name="Google Shape;226;g3db3c049816_0_13"/>
          <p:cNvSpPr txBox="1"/>
          <p:nvPr>
            <p:ph idx="2" type="body"/>
          </p:nvPr>
        </p:nvSpPr>
        <p:spPr>
          <a:xfrm>
            <a:off x="3459163" y="548720"/>
            <a:ext cx="20700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/>
          </a:p>
        </p:txBody>
      </p:sp>
      <p:sp>
        <p:nvSpPr>
          <p:cNvPr id="227" name="Google Shape;227;g3db3c049816_0_13"/>
          <p:cNvSpPr txBox="1"/>
          <p:nvPr>
            <p:ph type="title"/>
          </p:nvPr>
        </p:nvSpPr>
        <p:spPr>
          <a:xfrm>
            <a:off x="585897" y="1447790"/>
            <a:ext cx="11058000" cy="7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ru-RU"/>
              <a:t>Конвейер обработки данных</a:t>
            </a:r>
            <a:endParaRPr/>
          </a:p>
        </p:txBody>
      </p:sp>
      <p:sp>
        <p:nvSpPr>
          <p:cNvPr id="228" name="Google Shape;228;g3db3c049816_0_13"/>
          <p:cNvSpPr txBox="1"/>
          <p:nvPr>
            <p:ph idx="3" type="body"/>
          </p:nvPr>
        </p:nvSpPr>
        <p:spPr>
          <a:xfrm>
            <a:off x="585897" y="2379663"/>
            <a:ext cx="11058000" cy="374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29" name="Google Shape;229;g3db3c049816_0_13"/>
          <p:cNvSpPr txBox="1"/>
          <p:nvPr>
            <p:ph idx="4" type="body"/>
          </p:nvPr>
        </p:nvSpPr>
        <p:spPr>
          <a:xfrm>
            <a:off x="6259892" y="548720"/>
            <a:ext cx="20700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/>
          </a:p>
        </p:txBody>
      </p:sp>
      <p:pic>
        <p:nvPicPr>
          <p:cNvPr id="230" name="Google Shape;230;g3db3c049816_0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0700" y="2466975"/>
            <a:ext cx="11410950" cy="192405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g3db3c049816_0_13"/>
          <p:cNvSpPr txBox="1"/>
          <p:nvPr>
            <p:ph idx="1" type="body"/>
          </p:nvPr>
        </p:nvSpPr>
        <p:spPr>
          <a:xfrm>
            <a:off x="630650" y="4429575"/>
            <a:ext cx="11274900" cy="33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Основной код продукта реализован на языке Python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Ключевые библиотеки в реализации RAG: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PyTorch - В продукте используется для нормализации векторов  и определения устройства.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LangChain - для создания векторного хранилища, работы с моделью и запросами к ней, построения конвейера.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Ответ касательно возможности применения комьюнити версии LangChain и sentence-transformers от отдела безопасности пока ещё не пришел, так что на это время необходимые минимальные классы из этой библиотеки скопированы в код  или применяется код-заглушка.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MultiVectorRetriever (нужен для родительско-дочерней системы и нахлеста) и RecursiveCharacterTextSplitter скопированы вручную как временное решение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db3c049816_0_23"/>
          <p:cNvSpPr/>
          <p:nvPr>
            <p:ph idx="2" type="pic"/>
          </p:nvPr>
        </p:nvSpPr>
        <p:spPr>
          <a:xfrm>
            <a:off x="6684653" y="1447790"/>
            <a:ext cx="4325100" cy="4325100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237" name="Google Shape;237;g3db3c049816_0_23"/>
          <p:cNvSpPr txBox="1"/>
          <p:nvPr>
            <p:ph type="title"/>
          </p:nvPr>
        </p:nvSpPr>
        <p:spPr>
          <a:xfrm>
            <a:off x="585898" y="1447790"/>
            <a:ext cx="5245500" cy="7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ru-RU"/>
              <a:t>Выбор метрик качества и его обоснование</a:t>
            </a:r>
            <a:endParaRPr/>
          </a:p>
        </p:txBody>
      </p:sp>
      <p:sp>
        <p:nvSpPr>
          <p:cNvPr id="238" name="Google Shape;238;g3db3c049816_0_23"/>
          <p:cNvSpPr txBox="1"/>
          <p:nvPr>
            <p:ph idx="1" type="body"/>
          </p:nvPr>
        </p:nvSpPr>
        <p:spPr>
          <a:xfrm>
            <a:off x="585897" y="2379663"/>
            <a:ext cx="5245500" cy="33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recall: 0.7576 - доля выявленных нарушений от всех нарушений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Коэффициент корреляции Мэттьюса: 0.4099 - Коэффициент корреляции между истинными и предсказанными метками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39" name="Google Shape;239;g3db3c049816_0_23"/>
          <p:cNvSpPr txBox="1"/>
          <p:nvPr>
            <p:ph idx="3" type="body"/>
          </p:nvPr>
        </p:nvSpPr>
        <p:spPr>
          <a:xfrm>
            <a:off x="1143689" y="540904"/>
            <a:ext cx="1901700" cy="4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40" name="Google Shape;240;g3db3c049816_0_23"/>
          <p:cNvSpPr txBox="1"/>
          <p:nvPr>
            <p:ph idx="4" type="body"/>
          </p:nvPr>
        </p:nvSpPr>
        <p:spPr>
          <a:xfrm>
            <a:off x="3459163" y="548720"/>
            <a:ext cx="20700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/>
          </a:p>
        </p:txBody>
      </p:sp>
      <p:sp>
        <p:nvSpPr>
          <p:cNvPr id="241" name="Google Shape;241;g3db3c049816_0_23"/>
          <p:cNvSpPr txBox="1"/>
          <p:nvPr>
            <p:ph idx="5" type="body"/>
          </p:nvPr>
        </p:nvSpPr>
        <p:spPr>
          <a:xfrm>
            <a:off x="6259892" y="548720"/>
            <a:ext cx="20700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/>
          </a:p>
        </p:txBody>
      </p:sp>
      <p:pic>
        <p:nvPicPr>
          <p:cNvPr id="242" name="Google Shape;242;g3db3c049816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97881" y="1449400"/>
            <a:ext cx="4428069" cy="4325100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pic>
      <p:pic>
        <p:nvPicPr>
          <p:cNvPr id="243" name="Google Shape;243;g3db3c049816_0_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5938" y="4010813"/>
            <a:ext cx="5286375" cy="752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g3db3c049816_0_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5900" y="2653200"/>
            <a:ext cx="2073884" cy="778700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g3db3c049816_0_23"/>
          <p:cNvSpPr txBox="1"/>
          <p:nvPr>
            <p:ph idx="5" type="body"/>
          </p:nvPr>
        </p:nvSpPr>
        <p:spPr>
          <a:xfrm>
            <a:off x="6684650" y="5774500"/>
            <a:ext cx="36288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rPr lang="ru-RU"/>
              <a:t>Метрики получены на тестовом наборе для университета и не совпадают с рабочей версией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4"/>
          <p:cNvSpPr txBox="1"/>
          <p:nvPr>
            <p:ph idx="1" type="body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51" name="Google Shape;251;p4"/>
          <p:cNvSpPr txBox="1"/>
          <p:nvPr>
            <p:ph idx="2" type="body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/>
          </a:p>
        </p:txBody>
      </p:sp>
      <p:sp>
        <p:nvSpPr>
          <p:cNvPr id="252" name="Google Shape;252;p4"/>
          <p:cNvSpPr txBox="1"/>
          <p:nvPr>
            <p:ph type="title"/>
          </p:nvPr>
        </p:nvSpPr>
        <p:spPr>
          <a:xfrm>
            <a:off x="585898" y="1447790"/>
            <a:ext cx="10714699" cy="777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ru-RU"/>
              <a:t>Автотесты ответов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53" name="Google Shape;253;p4"/>
          <p:cNvSpPr txBox="1"/>
          <p:nvPr>
            <p:ph idx="3" type="body"/>
          </p:nvPr>
        </p:nvSpPr>
        <p:spPr>
          <a:xfrm>
            <a:off x="585900" y="4340550"/>
            <a:ext cx="5305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</a:pPr>
            <a:r>
              <a:rPr lang="ru-RU"/>
              <a:t>Precision - </a:t>
            </a:r>
            <a:r>
              <a:rPr lang="ru-RU"/>
              <a:t>Доля совпадающих тезисов с образцом от всех тезисов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</a:pPr>
            <a:r>
              <a:rPr lang="ru-RU"/>
              <a:t>Recall - </a:t>
            </a:r>
            <a:r>
              <a:rPr lang="ru-RU"/>
              <a:t>Доля совпадающих тезисов ответа от всех тезисов образца.</a:t>
            </a:r>
            <a:endParaRPr/>
          </a:p>
        </p:txBody>
      </p:sp>
      <p:sp>
        <p:nvSpPr>
          <p:cNvPr id="254" name="Google Shape;254;p4"/>
          <p:cNvSpPr txBox="1"/>
          <p:nvPr>
            <p:ph idx="4" type="body"/>
          </p:nvPr>
        </p:nvSpPr>
        <p:spPr>
          <a:xfrm>
            <a:off x="585897" y="5183249"/>
            <a:ext cx="3934345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55" name="Google Shape;255;p4"/>
          <p:cNvSpPr txBox="1"/>
          <p:nvPr>
            <p:ph idx="6" type="body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/>
          </a:p>
        </p:txBody>
      </p:sp>
      <p:pic>
        <p:nvPicPr>
          <p:cNvPr id="256" name="Google Shape;256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900" y="2308975"/>
            <a:ext cx="10934700" cy="190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"/>
          <p:cNvSpPr txBox="1"/>
          <p:nvPr>
            <p:ph type="title"/>
          </p:nvPr>
        </p:nvSpPr>
        <p:spPr>
          <a:xfrm>
            <a:off x="585898" y="1447790"/>
            <a:ext cx="5245560" cy="777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ru-RU"/>
              <a:t>Реализация</a:t>
            </a:r>
            <a:endParaRPr/>
          </a:p>
        </p:txBody>
      </p:sp>
      <p:sp>
        <p:nvSpPr>
          <p:cNvPr id="262" name="Google Shape;262;p2"/>
          <p:cNvSpPr txBox="1"/>
          <p:nvPr>
            <p:ph idx="1" type="body"/>
          </p:nvPr>
        </p:nvSpPr>
        <p:spPr>
          <a:xfrm>
            <a:off x="585900" y="2379675"/>
            <a:ext cx="3918600" cy="33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Что получилось:</a:t>
            </a:r>
            <a:endParaRPr/>
          </a:p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ru-RU"/>
              <a:t>Запрос на извлечение информации из корпоративной КХД.</a:t>
            </a:r>
            <a:endParaRPr/>
          </a:p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ru-RU"/>
              <a:t>Реализован подбор и поиск документов контекста</a:t>
            </a:r>
            <a:endParaRPr/>
          </a:p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ru-RU"/>
              <a:t>(векторная БД и по ключевым тегам)</a:t>
            </a:r>
            <a:endParaRPr/>
          </a:p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ru-RU"/>
              <a:t>Фильтрация и сортировка полученного контекста</a:t>
            </a:r>
            <a:endParaRPr/>
          </a:p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ru-RU"/>
              <a:t>Достигнута высокая степень читаемости</a:t>
            </a:r>
            <a:endParaRPr/>
          </a:p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ru-RU"/>
              <a:t>Получается эффективно выявлять рядовые и простые случаи нарушений</a:t>
            </a:r>
            <a:endParaRPr/>
          </a:p>
        </p:txBody>
      </p:sp>
      <p:sp>
        <p:nvSpPr>
          <p:cNvPr id="263" name="Google Shape;263;p2"/>
          <p:cNvSpPr txBox="1"/>
          <p:nvPr>
            <p:ph idx="3" type="body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64" name="Google Shape;264;p2"/>
          <p:cNvSpPr txBox="1"/>
          <p:nvPr>
            <p:ph idx="4" type="body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/>
          </a:p>
        </p:txBody>
      </p:sp>
      <p:sp>
        <p:nvSpPr>
          <p:cNvPr id="265" name="Google Shape;265;p2"/>
          <p:cNvSpPr txBox="1"/>
          <p:nvPr>
            <p:ph idx="5" type="body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/>
          </a:p>
        </p:txBody>
      </p:sp>
      <p:pic>
        <p:nvPicPr>
          <p:cNvPr id="266" name="Google Shape;266;p2"/>
          <p:cNvPicPr preferRelativeResize="0"/>
          <p:nvPr/>
        </p:nvPicPr>
        <p:blipFill rotWithShape="1">
          <a:blip r:embed="rId3">
            <a:alphaModFix/>
          </a:blip>
          <a:srcRect b="0" l="0" r="24104" t="1517"/>
          <a:stretch/>
        </p:blipFill>
        <p:spPr>
          <a:xfrm>
            <a:off x="4504397" y="2532600"/>
            <a:ext cx="7554326" cy="3827200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pic>
      <p:sp>
        <p:nvSpPr>
          <p:cNvPr id="267" name="Google Shape;267;p2"/>
          <p:cNvSpPr txBox="1"/>
          <p:nvPr>
            <p:ph idx="5" type="body"/>
          </p:nvPr>
        </p:nvSpPr>
        <p:spPr>
          <a:xfrm>
            <a:off x="5873247" y="1735374"/>
            <a:ext cx="3934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Font typeface="Arial"/>
              <a:buNone/>
            </a:pPr>
            <a:r>
              <a:rPr lang="ru-RU" sz="1150">
                <a:solidFill>
                  <a:srgbClr val="000000"/>
                </a:solidFill>
                <a:highlight>
                  <a:srgbClr val="FFFFFF"/>
                </a:highlight>
              </a:rPr>
              <a:t>Пример вывода:</a:t>
            </a:r>
            <a:endParaRPr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"/>
          <p:cNvSpPr txBox="1"/>
          <p:nvPr>
            <p:ph idx="1" type="body"/>
          </p:nvPr>
        </p:nvSpPr>
        <p:spPr>
          <a:xfrm>
            <a:off x="1143689" y="540904"/>
            <a:ext cx="1901825" cy="415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73" name="Google Shape;273;p3"/>
          <p:cNvSpPr txBox="1"/>
          <p:nvPr>
            <p:ph idx="2" type="body"/>
          </p:nvPr>
        </p:nvSpPr>
        <p:spPr>
          <a:xfrm>
            <a:off x="3459163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/>
          </a:p>
        </p:txBody>
      </p:sp>
      <p:sp>
        <p:nvSpPr>
          <p:cNvPr id="274" name="Google Shape;274;p3"/>
          <p:cNvSpPr txBox="1"/>
          <p:nvPr>
            <p:ph type="title"/>
          </p:nvPr>
        </p:nvSpPr>
        <p:spPr>
          <a:xfrm>
            <a:off x="585897" y="1447790"/>
            <a:ext cx="11057955" cy="777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ru-RU"/>
              <a:t>Финальный вывод</a:t>
            </a:r>
            <a:endParaRPr/>
          </a:p>
        </p:txBody>
      </p:sp>
      <p:sp>
        <p:nvSpPr>
          <p:cNvPr id="275" name="Google Shape;275;p3"/>
          <p:cNvSpPr txBox="1"/>
          <p:nvPr>
            <p:ph idx="3" type="body"/>
          </p:nvPr>
        </p:nvSpPr>
        <p:spPr>
          <a:xfrm>
            <a:off x="585897" y="2379663"/>
            <a:ext cx="11058000" cy="374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Изучение текущей ситуации подтвердило актуальность задачи и ощутимую фактическую пользу с исчисляемым и значимым экономическим эффектом. Были выявлены основные препятствия и трудности для внедрения подобных систем.Описана архитектура текущего конвейера обработки запросов, сформирован тестовый набор данных из анонимизированных случаев и синтетических примеров, реализован конвейер на языке программирования Python.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Ключевым результатом работы стало создание  системы предварительной проверки жизненного цикла документов, служащей упрощению и ускорению этой задачи со стороны аудитора и повышению уровня покрытия.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</a:pPr>
            <a:r>
              <a:rPr lang="ru-RU"/>
              <a:t>В данный момент мы дошли до уровня на котором продукт часто мыслит в правильном направлении и корректно принимает решения в простых случаях, но часто не доводит рассуждения до конца или теряется в контексте сложных ситуаций.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</a:pPr>
            <a:r>
              <a:rPr lang="ru-RU"/>
              <a:t>Будет проводится дальнейшее совершенствование продукта.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3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76" name="Google Shape;276;p3"/>
          <p:cNvSpPr txBox="1"/>
          <p:nvPr>
            <p:ph idx="4" type="body"/>
          </p:nvPr>
        </p:nvSpPr>
        <p:spPr>
          <a:xfrm>
            <a:off x="6259892" y="548720"/>
            <a:ext cx="2070100" cy="4081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ddea04373e_0_5"/>
          <p:cNvSpPr txBox="1"/>
          <p:nvPr>
            <p:ph idx="1" type="body"/>
          </p:nvPr>
        </p:nvSpPr>
        <p:spPr>
          <a:xfrm>
            <a:off x="1143689" y="540904"/>
            <a:ext cx="1901700" cy="4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82" name="Google Shape;282;g3ddea04373e_0_5"/>
          <p:cNvSpPr txBox="1"/>
          <p:nvPr>
            <p:ph idx="2" type="body"/>
          </p:nvPr>
        </p:nvSpPr>
        <p:spPr>
          <a:xfrm>
            <a:off x="3459163" y="548720"/>
            <a:ext cx="20700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/>
          </a:p>
        </p:txBody>
      </p:sp>
      <p:sp>
        <p:nvSpPr>
          <p:cNvPr id="283" name="Google Shape;283;g3ddea04373e_0_5"/>
          <p:cNvSpPr txBox="1"/>
          <p:nvPr>
            <p:ph type="title"/>
          </p:nvPr>
        </p:nvSpPr>
        <p:spPr>
          <a:xfrm>
            <a:off x="585897" y="1447790"/>
            <a:ext cx="11058000" cy="7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ru-RU"/>
              <a:t>Цели по проекту для дальнейшего развития</a:t>
            </a:r>
            <a:endParaRPr/>
          </a:p>
        </p:txBody>
      </p:sp>
      <p:sp>
        <p:nvSpPr>
          <p:cNvPr id="284" name="Google Shape;284;g3ddea04373e_0_5"/>
          <p:cNvSpPr txBox="1"/>
          <p:nvPr>
            <p:ph idx="3" type="body"/>
          </p:nvPr>
        </p:nvSpPr>
        <p:spPr>
          <a:xfrm>
            <a:off x="585897" y="2379663"/>
            <a:ext cx="11058000" cy="374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/>
          <a:p>
            <a:pPr indent="-3492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AutoNum type="arabicParenR"/>
            </a:pPr>
            <a:r>
              <a:rPr lang="ru-RU" sz="1900"/>
              <a:t>Разнесение цепочки рассуждений на разные фрагменты для выделения доп действий с выбором шагов</a:t>
            </a:r>
            <a:endParaRPr sz="1900"/>
          </a:p>
          <a:p>
            <a:pPr indent="-3492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AutoNum type="arabicParenR"/>
            </a:pPr>
            <a:r>
              <a:rPr lang="ru-RU" sz="1900"/>
              <a:t>Оформление вывода с расширением и </a:t>
            </a:r>
            <a:r>
              <a:rPr lang="ru-RU" sz="1900"/>
              <a:t>улучшением</a:t>
            </a:r>
            <a:r>
              <a:rPr lang="ru-RU" sz="1900"/>
              <a:t> справочной информации к ответу</a:t>
            </a:r>
            <a:endParaRPr sz="1900"/>
          </a:p>
          <a:p>
            <a:pPr indent="-3492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AutoNum type="arabicParenR"/>
            </a:pPr>
            <a:r>
              <a:rPr lang="ru-RU" sz="1900"/>
              <a:t>Интеграция с КХД для удаления ручной части переноса информации по договорам в конвейер</a:t>
            </a:r>
            <a:endParaRPr sz="1900"/>
          </a:p>
          <a:p>
            <a:pPr indent="-3492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AutoNum type="arabicParenR"/>
            </a:pPr>
            <a:r>
              <a:rPr lang="ru-RU" sz="1900"/>
              <a:t>Фильтрация контентов в одном запросе</a:t>
            </a:r>
            <a:endParaRPr sz="1900"/>
          </a:p>
          <a:p>
            <a:pPr indent="-3492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AutoNum type="arabicParenR"/>
            </a:pPr>
            <a:r>
              <a:rPr lang="ru-RU" sz="1900"/>
              <a:t>По обогащению тестовых данных - расчет метрик промежуточных шагов и проверка слабых мест конвейера 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AutoNum type="arabicParenR"/>
            </a:pPr>
            <a:r>
              <a:rPr lang="ru-RU" sz="1900"/>
              <a:t>Заточка промптов под конкретику случая (примеры и формулировки)</a:t>
            </a:r>
            <a:endParaRPr sz="1900"/>
          </a:p>
        </p:txBody>
      </p:sp>
      <p:sp>
        <p:nvSpPr>
          <p:cNvPr id="285" name="Google Shape;285;g3ddea04373e_0_5"/>
          <p:cNvSpPr txBox="1"/>
          <p:nvPr>
            <p:ph idx="4" type="body"/>
          </p:nvPr>
        </p:nvSpPr>
        <p:spPr>
          <a:xfrm>
            <a:off x="6259892" y="548720"/>
            <a:ext cx="20700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D69"/>
              </a:buClr>
              <a:buSzPts val="1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Пользовательские 1">
      <a:dk1>
        <a:srgbClr val="0F2C68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2021-11-11T08:52:47Z</dcterms:created>
  <dc:creator>Кутьков Юрий Юрьевич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0x0101002A9C74E6E830D74E9B0FDDB4017A5417</vt:lpwstr>
  </property>
</Properties>
</file>